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Tomato Leaf Disease Detection Using CNN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Year B.Tech Project Presentation</a:t>
            </a:r>
          </a:p>
          <a:p/>
          <a:p>
            <a:r>
              <a:t>Presented by: [Student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Agriculture drives global food security and economic stability.</a:t>
            </a:r>
          </a:p>
          <a:p>
            <a:pPr>
              <a:defRPr sz="2200"/>
            </a:pPr>
            <a:r>
              <a:t>Tomato crops are highly susceptible to bacterial, viral, and fungal diseases.</a:t>
            </a:r>
          </a:p>
          <a:p>
            <a:pPr>
              <a:defRPr sz="2200"/>
            </a:pPr>
            <a:r>
              <a:t>Traditional manual detection is slow, subjective, and labor-intensive.</a:t>
            </a:r>
          </a:p>
          <a:p>
            <a:pPr>
              <a:defRPr sz="2200"/>
            </a:pPr>
            <a:r>
              <a:t>Late diagnosis results in heavy yield reduction and financial losses.</a:t>
            </a:r>
          </a:p>
          <a:p>
            <a:pPr>
              <a:defRPr sz="2200"/>
            </a:pPr>
            <a:r>
              <a:t>An automated, computer vision-based disease diagnosis system is highly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Tomato Leaf Diseases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Pathogens cause lesions, necrosis, and massive defoliation.</a:t>
            </a:r>
          </a:p>
          <a:p>
            <a:pPr>
              <a:defRPr sz="2200"/>
            </a:pPr>
            <a:r>
              <a:t>Diseases spread rapidly across the entire agricultural field.</a:t>
            </a:r>
          </a:p>
          <a:p>
            <a:pPr>
              <a:defRPr sz="2200"/>
            </a:pPr>
            <a:r>
              <a:t>Severely stunts plant growth and reduces fruit quality.</a:t>
            </a:r>
          </a:p>
          <a:p>
            <a:pPr>
              <a:defRPr sz="2200"/>
            </a:pPr>
            <a:r>
              <a:t>High degree of visual similarity between different diseases at early stages.</a:t>
            </a:r>
          </a:p>
          <a:p>
            <a:pPr>
              <a:defRPr sz="2200"/>
            </a:pPr>
            <a:r>
              <a:t>Expert agronomists are rare in rural farming locations.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AI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Deploy Deep Learning and Convolutional Neural Networks (CNN) for image analysis.</a:t>
            </a:r>
          </a:p>
          <a:p>
            <a:pPr>
              <a:defRPr sz="2200"/>
            </a:pPr>
            <a:r>
              <a:t>CNNs automatically extract complex visual patterns directly from pixels.</a:t>
            </a:r>
          </a:p>
          <a:p>
            <a:pPr>
              <a:defRPr sz="2200"/>
            </a:pPr>
            <a:r>
              <a:t>Capable of distinguishing between healthy and diseased leaf classes rapidly.</a:t>
            </a:r>
          </a:p>
          <a:p>
            <a:pPr>
              <a:defRPr sz="2200"/>
            </a:pPr>
            <a:r>
              <a:t>Scalable technology capable of serving farmers directly via mobile apps.</a:t>
            </a:r>
          </a:p>
          <a:p>
            <a:pPr>
              <a:defRPr sz="2200"/>
            </a:pPr>
            <a:r>
              <a:t>Guarantees standard, objective, and non-fatiguing real-time disease diagnosis.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&amp;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Traditional ML (SVM, K-Means) required manual, error-prone feature extraction.</a:t>
            </a:r>
          </a:p>
          <a:p>
            <a:pPr>
              <a:defRPr sz="2200"/>
            </a:pPr>
            <a:r>
              <a:t>Pre-trained DL models (ResNet, VGG16) often carry massive computational weight.</a:t>
            </a:r>
          </a:p>
          <a:p>
            <a:pPr>
              <a:defRPr sz="2200"/>
            </a:pPr>
            <a:r>
              <a:t>Many models fail to generalize outside controlled laboratory conditions.</a:t>
            </a:r>
          </a:p>
          <a:p>
            <a:pPr>
              <a:defRPr sz="2200"/>
            </a:pPr>
            <a:r>
              <a:t>Research Gap: The need for a lightweight, customized CNN model balancing high inference speed and validation accuracy.</a:t>
            </a:r>
          </a:p>
          <a:p>
            <a:pPr>
              <a:defRPr sz="2200"/>
            </a:pPr>
            <a:r>
              <a:t>Focus on robustness against varied lighting and mobile camera artifacts.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1. Image Acquisition: Capture leaf imagery via mobile/camera.</a:t>
            </a:r>
          </a:p>
          <a:p>
            <a:pPr>
              <a:defRPr sz="2200"/>
            </a:pPr>
            <a:r>
              <a:t>2. Preprocessing: Resizing, normalization, and heavy data augmentation.</a:t>
            </a:r>
          </a:p>
          <a:p>
            <a:pPr>
              <a:defRPr sz="2200"/>
            </a:pPr>
            <a:r>
              <a:t>3. Feature Extraction: Convolutional and Max Pooling sequential layers.</a:t>
            </a:r>
          </a:p>
          <a:p>
            <a:pPr>
              <a:defRPr sz="2200"/>
            </a:pPr>
            <a:r>
              <a:t>4. Feature Synthesis: Fully Connected (Dense) neural network.</a:t>
            </a:r>
          </a:p>
          <a:p>
            <a:pPr>
              <a:defRPr sz="2200"/>
            </a:pPr>
            <a:r>
              <a:t>5. Classification: Softmax activation yielding disease class probabilities.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Source: PlantVillage distinct Tomato subset combined with local datasets.</a:t>
            </a:r>
          </a:p>
          <a:p>
            <a:pPr>
              <a:defRPr sz="2200"/>
            </a:pPr>
            <a:r>
              <a:t>Categorized into 10 classes (1 healthy, 9 specific diseases like Early Blight).</a:t>
            </a:r>
          </a:p>
          <a:p>
            <a:pPr>
              <a:defRPr sz="2200"/>
            </a:pPr>
            <a:r>
              <a:t>Resizing: Images standardized (e.g., 224x224) to maintain tensor shape.</a:t>
            </a:r>
          </a:p>
          <a:p>
            <a:pPr>
              <a:defRPr sz="2200"/>
            </a:pPr>
            <a:r>
              <a:t>Normalization: Pixel scales reduced from 0-255 to [0, 1] for optimization.</a:t>
            </a:r>
          </a:p>
          <a:p>
            <a:pPr>
              <a:defRPr sz="2200"/>
            </a:pPr>
            <a:r>
              <a:t>Augmentation: Applied random rotation, flipping, and shearing to prevent overfitting.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Convolutional Layers: Extract fundamental patterns and hierarchical lesions.</a:t>
            </a:r>
          </a:p>
          <a:p>
            <a:pPr>
              <a:defRPr sz="2200"/>
            </a:pPr>
            <a:r>
              <a:t>ReLU Activation: Introduces non-linearity to process complex inter-relations.</a:t>
            </a:r>
          </a:p>
          <a:p>
            <a:pPr>
              <a:defRPr sz="2200"/>
            </a:pPr>
            <a:r>
              <a:t>Max Pooling Layers: Downsamples structural dimensions to lower processing limits.</a:t>
            </a:r>
          </a:p>
          <a:p>
            <a:pPr>
              <a:defRPr sz="2200"/>
            </a:pPr>
            <a:r>
              <a:t>Flatten &amp; Dense Layers: Synthesizes arrayed spatial vectors into class weights.</a:t>
            </a:r>
          </a:p>
          <a:p>
            <a:pPr>
              <a:defRPr sz="2200"/>
            </a:pPr>
            <a:r>
              <a:t>Softmax Function: Converts final vector metrics into percentages (confidence).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Loss Function: Categorical Cross-Entropy (for multi-class problems).</a:t>
            </a:r>
          </a:p>
          <a:p>
            <a:pPr>
              <a:defRPr sz="2200"/>
            </a:pPr>
            <a:r>
              <a:t>Optimizer: Adam (Adaptive Moment Estimation) for dynamic learning rate adjustments.</a:t>
            </a:r>
          </a:p>
          <a:p>
            <a:pPr>
              <a:defRPr sz="2200"/>
            </a:pPr>
            <a:r>
              <a:t>Epochs: 50 iterative cycles with a batch size of 32 for smooth gradients.</a:t>
            </a:r>
          </a:p>
          <a:p>
            <a:pPr>
              <a:defRPr sz="2200"/>
            </a:pPr>
            <a:r>
              <a:t>Evaluation Metrics: Tracking validation Accuracy, Precision, Recall, and F1-score.</a:t>
            </a:r>
          </a:p>
          <a:p>
            <a:pPr>
              <a:defRPr sz="2200"/>
            </a:pPr>
            <a:r>
              <a:t>Deployment Formats: Exported into lightweight HDF5 or TFLite structures.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Accuracy and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Achieved extremely high classification accuracy between training and testing splits.</a:t>
            </a:r>
          </a:p>
          <a:p>
            <a:pPr>
              <a:defRPr sz="2200"/>
            </a:pPr>
            <a:r>
              <a:t>Validation Accuracy securely trailed Training Accuracy indicating minimal overfitting.</a:t>
            </a:r>
          </a:p>
          <a:p>
            <a:pPr>
              <a:defRPr sz="2200"/>
            </a:pPr>
            <a:r>
              <a:t>Categorical Cross-Entropy Loss showed an aggressive smooth downward trajectory.</a:t>
            </a:r>
          </a:p>
          <a:p>
            <a:pPr>
              <a:defRPr sz="2200"/>
            </a:pPr>
            <a:r>
              <a:t>NOTE: Ensure to add Accuracy vs Epoch Graphs here.</a:t>
            </a:r>
          </a:p>
          <a:p>
            <a:pPr>
              <a:defRPr sz="2200"/>
            </a:pPr>
            <a:r>
              <a:t>NOTE: Ensure to add Model Loss Analysis Graphs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&amp;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Confusion Matrix reveals highly concentrated True Positives on the true diagonal.</a:t>
            </a:r>
          </a:p>
          <a:p>
            <a:pPr>
              <a:defRPr sz="2200"/>
            </a:pPr>
            <a:r>
              <a:t>Healthy Leaves: Identified perfectly via uniform green continuity.</a:t>
            </a:r>
          </a:p>
          <a:p>
            <a:pPr>
              <a:defRPr sz="2200"/>
            </a:pPr>
            <a:r>
              <a:t>Early Blight: Effectively localized by concentric ring pattern detection.</a:t>
            </a:r>
          </a:p>
          <a:p>
            <a:pPr>
              <a:defRPr sz="2200"/>
            </a:pPr>
            <a:r>
              <a:t>Mosaic Virus: Distinguished by uneven light/dark leaf vein manifestations.</a:t>
            </a:r>
          </a:p>
          <a:p>
            <a:pPr>
              <a:defRPr sz="2200"/>
            </a:pPr>
            <a:r>
              <a:t>Minimal errors isolated between heavily similar necrotic categories.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Advantages:</a:t>
            </a:r>
          </a:p>
          <a:p>
            <a:pPr lvl="1">
              <a:defRPr sz="2000"/>
            </a:pPr>
            <a:r>
              <a:t>  - Zero reliance on manual feature extraction.</a:t>
            </a:r>
          </a:p>
          <a:p>
            <a:pPr lvl="1">
              <a:defRPr sz="2000"/>
            </a:pPr>
            <a:r>
              <a:t>  - Democratization of expensive laboratory expertise to localized farmers.</a:t>
            </a:r>
          </a:p>
          <a:p>
            <a:pPr>
              <a:defRPr sz="2200"/>
            </a:pPr>
            <a:r>
              <a:t>Limitations:</a:t>
            </a:r>
          </a:p>
          <a:p>
            <a:pPr lvl="1">
              <a:defRPr sz="2000"/>
            </a:pPr>
            <a:r>
              <a:t>  - Solely relies on leaf symptoms; ignores stems and soil factors.</a:t>
            </a:r>
          </a:p>
          <a:p>
            <a:pPr lvl="1">
              <a:defRPr sz="2000"/>
            </a:pPr>
            <a:r>
              <a:t>  - Can be occasionally tricked by intense direct sun glare and shadow.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Conclusion: CNNs represent a robust solution for automated agronomics, replacing human subjectivity with mathematical certainty.</a:t>
            </a:r>
          </a:p>
          <a:p>
            <a:pPr>
              <a:defRPr sz="2200"/>
            </a:pPr>
            <a:r>
              <a:t>Future Scope:</a:t>
            </a:r>
          </a:p>
          <a:p>
            <a:pPr lvl="1">
              <a:defRPr sz="2000"/>
            </a:pPr>
            <a:r>
              <a:t>  - Scale the system using Object Detection algorithms (e.g., YOLOv8).</a:t>
            </a:r>
          </a:p>
          <a:p>
            <a:pPr lvl="1">
              <a:defRPr sz="2000"/>
            </a:pPr>
            <a:r>
              <a:t>  - Integration with continuous drone video-feed evaluation.</a:t>
            </a:r>
          </a:p>
          <a:p>
            <a:pPr lvl="1">
              <a:defRPr sz="2000"/>
            </a:pPr>
            <a:r>
              <a:t>  - Deployment on cross-platform mobile apps for absolute accessibility.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Any Questions?</a:t>
            </a:r>
          </a:p>
          <a:p/>
          <a:p>
            <a:r>
              <a:t>Contact: [Your Name / 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